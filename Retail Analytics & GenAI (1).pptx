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Inter"/>
      <p:regular r:id="rId11"/>
      <p:bold r:id="rId12"/>
      <p:italic r:id="rId13"/>
      <p:boldItalic r:id="rId14"/>
    </p:embeddedFont>
    <p:embeddedFont>
      <p:font typeface="JetBrains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5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JetBrainsMono-regular.fntdata"/><Relationship Id="rId14" Type="http://schemas.openxmlformats.org/officeDocument/2006/relationships/font" Target="fonts/Inter-boldItalic.fntdata"/><Relationship Id="rId17" Type="http://schemas.openxmlformats.org/officeDocument/2006/relationships/font" Target="fonts/JetBrainsMono-italic.fntdata"/><Relationship Id="rId16" Type="http://schemas.openxmlformats.org/officeDocument/2006/relationships/font" Target="fonts/JetBrains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JetBrains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762000"/>
            <a:ext cx="520065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Retail Analytics Gap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217170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6860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Current systems track "Shelf Pickup" but are blind to the critical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"Holding &amp; Inspecting"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phase.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358140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Key Challenges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73200" y="6145300"/>
            <a:ext cx="4749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Goal: Detect missed opportunities (products examined but not bought).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57250" y="40481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Fine-Grained Occlusion: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Hands often cover specific identifying features of the product.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57250" y="4800600"/>
            <a:ext cx="4667250" cy="762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Extreme Angles: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Viewing perspectives often range from 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   45   ∘   -   90   ∘  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14375" y="5496073"/>
            <a:ext cx="466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Lighting: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Glare and reflections are common in store environments.</a:t>
            </a:r>
            <a:endParaRPr/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671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196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529010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1862137"/>
            <a:ext cx="4762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40422"/>
            <a:ext cx="5715000" cy="88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1825972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Formal Task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340322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 robust vision system to classify specific Album IDs from hand-held views, even when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50% of the cover is hidden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4212877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The Novelty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7525" y="1871662"/>
            <a:ext cx="4743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14375" y="3283297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RGB Frame (Cropped Hand)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4375" y="3605212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Class ID &amp; Confidence Score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4679602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Few-Shot Learning: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Addressing data scarcity (learning from 10-20 seed images).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5432077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SDXL + ControlNet to create rich synthetic data (Advanced Data Augmentation).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Task &amp; Novelty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9865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451127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1862137"/>
            <a:ext cx="4762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1990725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The GenAI Pipeline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4448175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Identity Preservation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4962525"/>
            <a:ext cx="571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Crucial Step: Using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IP-Adapter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This ensures the generated record maintains the semantic identity of the original album, preventing it from becoming a "generic record".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525" y="1871662"/>
            <a:ext cx="4743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617828" y="2077667"/>
            <a:ext cx="5715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i="0" sz="1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Seed Data:</a:t>
            </a:r>
            <a:r>
              <a:rPr lang="en-US" sz="1500">
                <a:solidFill>
                  <a:srgbClr val="CBD5E1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 Collection of 10-20 clean catalog images.</a:t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20416" y="2962275"/>
            <a:ext cx="5715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Generation:</a:t>
            </a:r>
            <a:r>
              <a:rPr lang="en-US" sz="1500">
                <a:solidFill>
                  <a:srgbClr val="CBD5E1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 SDXL + ControlNet + Inpainting.</a:t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None/>
            </a:pPr>
            <a:r>
              <a:t/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10633" y="3457575"/>
            <a:ext cx="5715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Training:</a:t>
            </a:r>
            <a:r>
              <a:rPr lang="en-US" sz="1500">
                <a:solidFill>
                  <a:srgbClr val="CBD5E1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 Transfer Learning (ImageNet Pre-trained).</a:t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None/>
            </a:pPr>
            <a:r>
              <a:t/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30199" y="3952875"/>
            <a:ext cx="571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Eval:</a:t>
            </a:r>
            <a:r>
              <a:rPr lang="en-US" sz="1500">
                <a:solidFill>
                  <a:srgbClr val="CBD5E1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 Test on Real Images.</a:t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Models &amp; Methods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584" y="24860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801" y="2991108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801" y="35059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801" y="3981708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1862137"/>
            <a:ext cx="4762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96579"/>
            <a:ext cx="5715000" cy="1348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5759"/>
            <a:ext cx="5715000" cy="1348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474940"/>
            <a:ext cx="5715000" cy="8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1644104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bridge the gap between "Catalog" and "Real World" using synthesis.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67525" y="1871662"/>
            <a:ext cx="4743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800100" y="2596604"/>
            <a:ext cx="52863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0100" y="3053804"/>
            <a:ext cx="2457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 Seed Images (Per Class)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00100" y="3301454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Clean, front-facing images from web.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0100" y="4135784"/>
            <a:ext cx="52863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1k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00100" y="4592978"/>
            <a:ext cx="27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Synthetic Images (Per Class)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00100" y="4840634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Generated with varied hands, lighting, angles.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0100" y="5674965"/>
            <a:ext cx="2771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 Test Set (Manual Collection)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00100" y="5922615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Manually collected real images for reliable validation.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Synthetic!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301079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Training Data Strategy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71500" y="1053554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1862137"/>
            <a:ext cx="4762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1138237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1. Classifier KPIs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1652587"/>
            <a:ext cx="571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metrics evaluated on the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Held-out Real Test Set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3443287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2. Generator KPIs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3957637"/>
            <a:ext cx="571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Ensuring the synthetic data is high quality: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5605462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3. The "Gap" Experiment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6119812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Comparing performance: Model trained on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 Only (Few-Shot)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vs. Model trained on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Synthetic Data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525" y="1871662"/>
            <a:ext cx="4743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857250" y="2100262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Top-1 Accuracy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57250" y="2547937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Top-5 Accuracy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57250" y="2995612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Precision / Recall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57250" y="4405312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FID Score: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Visual realism.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57250" y="4852987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Cosine Similarity: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(using CLIP/DINO) Measures semantic identity.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-14287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Metrics &amp; KPIs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571500" y="73818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1931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669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146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243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72037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