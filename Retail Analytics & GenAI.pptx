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Inter" panose="020B0604020202020204" charset="0"/>
      <p:regular r:id="rId8"/>
      <p:bold r:id="rId9"/>
      <p:italic r:id="rId10"/>
      <p:boldItalic r:id="rId11"/>
    </p:embeddedFont>
    <p:embeddedFont>
      <p:font typeface="JetBrains Mono" panose="020B060402020202020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762000"/>
            <a:ext cx="5200650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The Retail Analytics Gap</a:t>
            </a:r>
            <a:endParaRPr dirty="0"/>
          </a:p>
        </p:txBody>
      </p:sp>
      <p:pic>
        <p:nvPicPr>
          <p:cNvPr id="86" name="Google Shape;86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571500" y="2171700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71500" y="26860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Current systems track "Shelf Pickup" but are blind to the critical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"Holding &amp; Inspecting"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phase.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71500" y="3581400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Key Challenges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73200" y="6145300"/>
            <a:ext cx="4749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Goal: Detect missed opportunities (products examined but not bought).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857250" y="4048125"/>
            <a:ext cx="4667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Fine-Grained Occlusion: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Hands often cover specific identifying features of the product.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857250" y="4800600"/>
            <a:ext cx="4667250" cy="762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Extreme Angles: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Viewing perspectives often range from </a:t>
            </a:r>
            <a:r>
              <a:rPr lang="en-US" sz="15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    45   ∘   -   90   ∘   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14375" y="5496073"/>
            <a:ext cx="46674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Lighting: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Glare and reflections are common in store environments.</a:t>
            </a:r>
            <a:endParaRPr/>
          </a:p>
        </p:txBody>
      </p:sp>
      <p:pic>
        <p:nvPicPr>
          <p:cNvPr id="94" name="Google Shape;94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067175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819650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5529010"/>
            <a:ext cx="952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58000" y="1862137"/>
            <a:ext cx="476250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140422"/>
            <a:ext cx="5715000" cy="88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571500" y="1825972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Formal Task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71500" y="2340322"/>
            <a:ext cx="5715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Develop a robust vision system to classify specific Album IDs from hand-held views, even when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50% of the cover is hidden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571500" y="4212877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The Novelty</a:t>
            </a:r>
            <a:endParaRPr/>
          </a:p>
        </p:txBody>
      </p:sp>
      <p:pic>
        <p:nvPicPr>
          <p:cNvPr id="107" name="Google Shape;10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867525" y="1871662"/>
            <a:ext cx="474345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714375" y="3283297"/>
            <a:ext cx="5429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Input: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RGB Frame (Cropped Hand)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714375" y="3605212"/>
            <a:ext cx="54292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Output: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Class ID &amp; Confidence Score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857250" y="4679602"/>
            <a:ext cx="5429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Few-Shot Learning: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Addressing data scarcity (learning from 10-20 seed images).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857250" y="5432077"/>
            <a:ext cx="5429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Solution: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Using SDXL + ControlNet to create rich synthetic data (Advanced Data Augmentation).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Project Task &amp; Novelty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698652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451127"/>
            <a:ext cx="952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740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1990725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The GenAI Pipeline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571500" y="4448175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Identity Preservation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71500" y="4962525"/>
            <a:ext cx="5715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Crucial Step: Using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IP-Adapter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 This ensures the generated record maintains the semantic identity of the original album, preventing it from becoming a "generic record".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17828" y="2077667"/>
            <a:ext cx="57150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500" b="1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dirty="0">
                <a:solidFill>
                  <a:srgbClr val="FFFFFF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Seed Data:</a:t>
            </a:r>
            <a:r>
              <a:rPr lang="en-US" sz="1500" dirty="0">
                <a:solidFill>
                  <a:srgbClr val="CBD5E1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 Collection of 10-20 clean catalog images.</a:t>
            </a:r>
            <a:endParaRPr sz="1500" dirty="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b="1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620416" y="2962275"/>
            <a:ext cx="57150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Generation:</a:t>
            </a:r>
            <a:r>
              <a:rPr lang="en-US" sz="1500" dirty="0">
                <a:solidFill>
                  <a:srgbClr val="CBD5E1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 SDXL + ControlNet + Inpainting.</a:t>
            </a:r>
            <a:endParaRPr sz="1500" dirty="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lvl="0" indent="-228600" algn="l" rtl="0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None/>
            </a:pPr>
            <a:endParaRPr sz="1500" dirty="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2700"/>
              </a:spcBef>
              <a:spcAft>
                <a:spcPts val="0"/>
              </a:spcAft>
              <a:buNone/>
            </a:pPr>
            <a:endParaRPr sz="1500" b="1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610633" y="3457575"/>
            <a:ext cx="57150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Training:</a:t>
            </a:r>
            <a:r>
              <a:rPr lang="en-US" sz="1500">
                <a:solidFill>
                  <a:srgbClr val="CBD5E1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 Transfer Learning (ImageNet Pre-trained).</a:t>
            </a:r>
            <a:endParaRPr sz="150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lvl="0" indent="-228600" algn="l" rtl="0">
              <a:lnSpc>
                <a:spcPct val="160000"/>
              </a:lnSpc>
              <a:spcBef>
                <a:spcPts val="120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Inter"/>
              <a:buNone/>
            </a:pPr>
            <a:endParaRPr sz="150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2700"/>
              </a:spcBef>
              <a:spcAft>
                <a:spcPts val="0"/>
              </a:spcAft>
              <a:buNone/>
            </a:pPr>
            <a:endParaRPr sz="1500" b="1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630199" y="3952875"/>
            <a:ext cx="57150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FFFFFF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Eval:</a:t>
            </a:r>
            <a:r>
              <a:rPr lang="en-US" sz="1500">
                <a:solidFill>
                  <a:srgbClr val="CBD5E1"/>
                </a:solidFill>
                <a:highlight>
                  <a:srgbClr val="0F172A"/>
                </a:highlight>
                <a:latin typeface="Inter"/>
                <a:ea typeface="Inter"/>
                <a:cs typeface="Inter"/>
                <a:sym typeface="Inter"/>
              </a:rPr>
              <a:t> Test on Real Images.</a:t>
            </a:r>
            <a:endParaRPr sz="1500">
              <a:solidFill>
                <a:srgbClr val="CBD5E1"/>
              </a:solidFill>
              <a:highlight>
                <a:srgbClr val="0F172A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 b="1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571500" y="571500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Models &amp; Methods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571500" y="1323975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2584" y="2486025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2801" y="2991108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2801" y="3505975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2801" y="3981708"/>
            <a:ext cx="952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F3B58CF6-32F8-1C2C-3126-F2768C037160}"/>
              </a:ext>
            </a:extLst>
          </p:cNvPr>
          <p:cNvSpPr txBox="1"/>
          <p:nvPr/>
        </p:nvSpPr>
        <p:spPr>
          <a:xfrm>
            <a:off x="6068160" y="1668807"/>
            <a:ext cx="5459009" cy="504753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Input Constraint</a:t>
            </a:r>
            <a:r>
              <a:rPr lang="en-US" dirty="0">
                <a:solidFill>
                  <a:schemeClr val="bg1"/>
                </a:solidFill>
              </a:rPr>
              <a:t>: Few-Shot Scenario: We start with only 10-20 clean catalog images per album (Seed Data).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Preprocessing: Background removal &amp; resizing to 1024 * 1024 (matching SDXL native resolution).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The Generative Pipeline</a:t>
            </a:r>
            <a:r>
              <a:rPr lang="en-US" dirty="0">
                <a:solidFill>
                  <a:schemeClr val="bg1"/>
                </a:solidFill>
              </a:rPr>
              <a:t> (Core)Base Model: SDXL 1.0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Why: Selected for superior photorealism and text rendering capabilities over older models.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Structural Guidance: ControlNet </a:t>
            </a:r>
            <a:r>
              <a:rPr lang="en-US" dirty="0">
                <a:solidFill>
                  <a:schemeClr val="bg1"/>
                </a:solidFill>
              </a:rPr>
              <a:t>(Depth)Why: Enforces realistic hand geometry and grip physics, preventing hallucinated artifacts.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Identity Preservation: IP-Adapter </a:t>
            </a:r>
            <a:r>
              <a:rPr lang="en-US" dirty="0">
                <a:solidFill>
                  <a:schemeClr val="bg1"/>
                </a:solidFill>
              </a:rPr>
              <a:t>Why: Injects visual features from the seed image directly into the attention layers.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guarantees the generated record is an exact replica of the specific product, not a generic generation.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Downstream Tasks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Training:</a:t>
            </a:r>
            <a:r>
              <a:rPr lang="en-US" dirty="0">
                <a:solidFill>
                  <a:schemeClr val="bg1"/>
                </a:solidFill>
              </a:rPr>
              <a:t> Fine-tuning a </a:t>
            </a:r>
            <a:r>
              <a:rPr lang="en-US" b="1" dirty="0" err="1">
                <a:solidFill>
                  <a:schemeClr val="bg1"/>
                </a:solidFill>
              </a:rPr>
              <a:t>ViT</a:t>
            </a:r>
            <a:r>
              <a:rPr lang="en-US" b="1" dirty="0">
                <a:solidFill>
                  <a:schemeClr val="bg1"/>
                </a:solidFill>
              </a:rPr>
              <a:t> / </a:t>
            </a:r>
            <a:r>
              <a:rPr lang="en-US" b="1" dirty="0" err="1">
                <a:solidFill>
                  <a:schemeClr val="bg1"/>
                </a:solidFill>
              </a:rPr>
              <a:t>ResNet</a:t>
            </a:r>
            <a:r>
              <a:rPr lang="en-US" dirty="0">
                <a:solidFill>
                  <a:schemeClr val="bg1"/>
                </a:solidFill>
              </a:rPr>
              <a:t> classifier on 1,000 synthetic samples per class.</a:t>
            </a:r>
          </a:p>
          <a:p>
            <a:r>
              <a:rPr lang="en-US" b="1" dirty="0">
                <a:solidFill>
                  <a:schemeClr val="bg1"/>
                </a:solidFill>
              </a:rPr>
              <a:t>Evaluation:</a:t>
            </a:r>
            <a:r>
              <a:rPr lang="en-US" dirty="0">
                <a:solidFill>
                  <a:schemeClr val="bg1"/>
                </a:solidFill>
              </a:rPr>
              <a:t> Tested strictly on </a:t>
            </a:r>
            <a:r>
              <a:rPr lang="en-US" b="1" dirty="0">
                <a:solidFill>
                  <a:schemeClr val="bg1"/>
                </a:solidFill>
              </a:rPr>
              <a:t>Real-World Data</a:t>
            </a:r>
            <a:r>
              <a:rPr lang="en-US" dirty="0">
                <a:solidFill>
                  <a:schemeClr val="bg1"/>
                </a:solidFill>
              </a:rPr>
              <a:t> to measure Sim-to-Real generalization gap.</a:t>
            </a:r>
          </a:p>
          <a:p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6579"/>
            <a:ext cx="5715000" cy="1348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935759"/>
            <a:ext cx="5715000" cy="1348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5474940"/>
            <a:ext cx="5715000" cy="89148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16"/>
          <p:cNvSpPr txBox="1"/>
          <p:nvPr/>
        </p:nvSpPr>
        <p:spPr>
          <a:xfrm>
            <a:off x="571500" y="1644104"/>
            <a:ext cx="5715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We bridge the gap between "Catalog" and "Real World" using synthesis.</a:t>
            </a:r>
            <a:endParaRPr dirty="0"/>
          </a:p>
        </p:txBody>
      </p:sp>
      <p:sp>
        <p:nvSpPr>
          <p:cNvPr id="147" name="Google Shape;147;p16"/>
          <p:cNvSpPr txBox="1"/>
          <p:nvPr/>
        </p:nvSpPr>
        <p:spPr>
          <a:xfrm>
            <a:off x="800100" y="2596604"/>
            <a:ext cx="52863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BBF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20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800100" y="3053804"/>
            <a:ext cx="245745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 Seed Images (Per Class)</a:t>
            </a:r>
            <a:endParaRPr dirty="0"/>
          </a:p>
        </p:txBody>
      </p:sp>
      <p:sp>
        <p:nvSpPr>
          <p:cNvPr id="149" name="Google Shape;149;p16"/>
          <p:cNvSpPr txBox="1"/>
          <p:nvPr/>
        </p:nvSpPr>
        <p:spPr>
          <a:xfrm>
            <a:off x="800100" y="3301454"/>
            <a:ext cx="52863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Clean, front-facing images from web.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800100" y="4135784"/>
            <a:ext cx="5286375" cy="409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BBF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1k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800100" y="4592978"/>
            <a:ext cx="2771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Synthetic Images (Per Class)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00100" y="4840634"/>
            <a:ext cx="52863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Generated with varied hands, lighting, angles.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00100" y="5674965"/>
            <a:ext cx="27717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 Test Set (Manual Collection)</a:t>
            </a:r>
            <a:endParaRPr/>
          </a:p>
        </p:txBody>
      </p:sp>
      <p:sp>
        <p:nvSpPr>
          <p:cNvPr id="154" name="Google Shape;154;p16"/>
          <p:cNvSpPr txBox="1"/>
          <p:nvPr/>
        </p:nvSpPr>
        <p:spPr>
          <a:xfrm>
            <a:off x="785812" y="5998815"/>
            <a:ext cx="52863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Manually collected real images for reliable validation.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NOT Synthetic!</a:t>
            </a:r>
            <a:endParaRPr dirty="0"/>
          </a:p>
        </p:txBody>
      </p:sp>
      <p:sp>
        <p:nvSpPr>
          <p:cNvPr id="155" name="Google Shape;155;p16"/>
          <p:cNvSpPr txBox="1"/>
          <p:nvPr/>
        </p:nvSpPr>
        <p:spPr>
          <a:xfrm>
            <a:off x="571500" y="301079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Training Data Strategy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571500" y="1053554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6137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571500" y="1138237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1. Classifier KPIs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571500" y="1652587"/>
            <a:ext cx="5715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Standard metrics evaluated on the </a:t>
            </a: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Held-out Real Test Set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571500" y="3443287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2. Generator KPIs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571500" y="3957637"/>
            <a:ext cx="5715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Ensuring the synthetic data is high quality: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571500" y="5643561"/>
            <a:ext cx="6000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rPr>
              <a:t>3. The "Gap" Experiment</a:t>
            </a:r>
            <a:endParaRPr dirty="0"/>
          </a:p>
        </p:txBody>
      </p:sp>
      <p:sp>
        <p:nvSpPr>
          <p:cNvPr id="168" name="Google Shape;168;p17"/>
          <p:cNvSpPr txBox="1"/>
          <p:nvPr/>
        </p:nvSpPr>
        <p:spPr>
          <a:xfrm>
            <a:off x="571500" y="5957886"/>
            <a:ext cx="5715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Comparing performance: Model trained on 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 Only (Few-Shot)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vs. Model trained on </a:t>
            </a:r>
            <a:r>
              <a:rPr lang="en-US" sz="15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Synthetic Data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70" name="Google Shape;170;p17"/>
          <p:cNvSpPr txBox="1"/>
          <p:nvPr/>
        </p:nvSpPr>
        <p:spPr>
          <a:xfrm>
            <a:off x="857250" y="2100262"/>
            <a:ext cx="5429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Top-1 Accuracy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857250" y="2547937"/>
            <a:ext cx="5429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Top-5 Accuracy</a:t>
            </a:r>
            <a:endParaRPr dirty="0"/>
          </a:p>
        </p:txBody>
      </p:sp>
      <p:sp>
        <p:nvSpPr>
          <p:cNvPr id="172" name="Google Shape;172;p17"/>
          <p:cNvSpPr txBox="1"/>
          <p:nvPr/>
        </p:nvSpPr>
        <p:spPr>
          <a:xfrm>
            <a:off x="857250" y="2995612"/>
            <a:ext cx="5429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Precision / Recall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857250" y="4405312"/>
            <a:ext cx="5429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FID Score: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Visual realism.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857250" y="4852987"/>
            <a:ext cx="54292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Cosine Similarity: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(using CLIP/DINO) Measures semantic identity.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571500" y="-14287"/>
            <a:ext cx="11601450" cy="581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Metrics &amp; KPIs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571500" y="738187"/>
            <a:ext cx="1104900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19312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66987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014662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24362"/>
            <a:ext cx="952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872037"/>
            <a:ext cx="952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תיבת טקסט 1">
            <a:extLst>
              <a:ext uri="{FF2B5EF4-FFF2-40B4-BE49-F238E27FC236}">
                <a16:creationId xmlns:a16="http://schemas.microsoft.com/office/drawing/2014/main" id="{6911AC12-3B44-A146-E363-ABC274EF5E4A}"/>
              </a:ext>
            </a:extLst>
          </p:cNvPr>
          <p:cNvSpPr txBox="1"/>
          <p:nvPr/>
        </p:nvSpPr>
        <p:spPr>
          <a:xfrm>
            <a:off x="6096000" y="1114002"/>
            <a:ext cx="6000749" cy="59093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br>
              <a:rPr lang="en-US" b="1" dirty="0">
                <a:solidFill>
                  <a:schemeClr val="bg1"/>
                </a:solidFill>
              </a:rPr>
            </a:b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Goal:</a:t>
            </a:r>
            <a:r>
              <a:rPr lang="en-US" dirty="0">
                <a:solidFill>
                  <a:schemeClr val="bg1"/>
                </a:solidFill>
              </a:rPr>
              <a:t> Prove that synthetic data improves real-world performance.</a:t>
            </a:r>
          </a:p>
          <a:p>
            <a:r>
              <a:rPr lang="en-US" b="1" dirty="0">
                <a:solidFill>
                  <a:schemeClr val="bg1"/>
                </a:solidFill>
              </a:rPr>
              <a:t>Method:</a:t>
            </a:r>
            <a:r>
              <a:rPr lang="en-US" dirty="0">
                <a:solidFill>
                  <a:schemeClr val="bg1"/>
                </a:solidFill>
              </a:rPr>
              <a:t> We compare two models trained on the same architecture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Baseline:</a:t>
            </a:r>
            <a:r>
              <a:rPr lang="en-US" dirty="0">
                <a:solidFill>
                  <a:schemeClr val="bg1"/>
                </a:solidFill>
              </a:rPr>
              <a:t> Trained on the 20 real seed images (Few-Shot).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Ours:</a:t>
            </a:r>
            <a:r>
              <a:rPr lang="en-US" dirty="0">
                <a:solidFill>
                  <a:schemeClr val="bg1"/>
                </a:solidFill>
              </a:rPr>
              <a:t> Trained on the 1,000 synthetic images (GenAI-Augmented).</a:t>
            </a:r>
          </a:p>
          <a:p>
            <a:r>
              <a:rPr lang="en-US" b="1" dirty="0">
                <a:solidFill>
                  <a:schemeClr val="bg1"/>
                </a:solidFill>
              </a:rPr>
              <a:t>Success Metric:</a:t>
            </a:r>
            <a:r>
              <a:rPr lang="en-US" dirty="0">
                <a:solidFill>
                  <a:schemeClr val="bg1"/>
                </a:solidFill>
              </a:rPr>
              <a:t> Improvement in Accuracy on the </a:t>
            </a:r>
            <a:r>
              <a:rPr lang="en-US" b="1" dirty="0">
                <a:solidFill>
                  <a:schemeClr val="bg1"/>
                </a:solidFill>
              </a:rPr>
              <a:t>Real Test Set</a:t>
            </a:r>
            <a:r>
              <a:rPr lang="en-US" dirty="0">
                <a:solidFill>
                  <a:schemeClr val="bg1"/>
                </a:solidFill>
              </a:rPr>
              <a:t>.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Generator Quality (Intermediate Step)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Visual Realism: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FID Score</a:t>
            </a:r>
            <a:r>
              <a:rPr lang="en-US" dirty="0">
                <a:solidFill>
                  <a:schemeClr val="bg1"/>
                </a:solidFill>
              </a:rPr>
              <a:t> (Lower is better) - measuring distance between real and synthetic distributions.</a:t>
            </a:r>
          </a:p>
          <a:p>
            <a:r>
              <a:rPr lang="en-US" b="1" dirty="0">
                <a:solidFill>
                  <a:schemeClr val="bg1"/>
                </a:solidFill>
              </a:rPr>
              <a:t>Semantic Integrity: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DINO/CLIP Similarity</a:t>
            </a:r>
            <a:r>
              <a:rPr lang="en-US" dirty="0">
                <a:solidFill>
                  <a:schemeClr val="bg1"/>
                </a:solidFill>
              </a:rPr>
              <a:t> - ensuring the generated album cover matches the ground truth identity (and didn't hallucinate a different band).</a:t>
            </a: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Classifier Performance (Final Step)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Test Set:</a:t>
            </a:r>
            <a:r>
              <a:rPr lang="en-US" dirty="0">
                <a:solidFill>
                  <a:schemeClr val="bg1"/>
                </a:solidFill>
              </a:rPr>
              <a:t> 100 manually labeled </a:t>
            </a:r>
            <a:r>
              <a:rPr lang="en-US" b="1" dirty="0">
                <a:solidFill>
                  <a:schemeClr val="bg1"/>
                </a:solidFill>
              </a:rPr>
              <a:t>real-world photos</a:t>
            </a:r>
            <a:r>
              <a:rPr lang="en-US" dirty="0">
                <a:solidFill>
                  <a:schemeClr val="bg1"/>
                </a:solidFill>
              </a:rPr>
              <a:t> (Ground Truth).</a:t>
            </a:r>
          </a:p>
          <a:p>
            <a:r>
              <a:rPr lang="en-US" b="1" dirty="0">
                <a:solidFill>
                  <a:schemeClr val="bg1"/>
                </a:solidFill>
              </a:rPr>
              <a:t>KPIs:</a:t>
            </a:r>
            <a:r>
              <a:rPr lang="en-US" dirty="0">
                <a:solidFill>
                  <a:schemeClr val="bg1"/>
                </a:solidFill>
              </a:rPr>
              <a:t> Top-1 Accuracy, Confusion Matrix (to identify specific confused albums).</a:t>
            </a:r>
          </a:p>
          <a:p>
            <a:endParaRPr lang="he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678</Words>
  <Application>Microsoft Office PowerPoint</Application>
  <PresentationFormat>מסך רחב</PresentationFormat>
  <Paragraphs>68</Paragraphs>
  <Slides>5</Slides>
  <Notes>5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10" baseType="lpstr">
      <vt:lpstr>Inter</vt:lpstr>
      <vt:lpstr>Calibri</vt:lpstr>
      <vt:lpstr>Arial</vt:lpstr>
      <vt:lpstr>JetBrains Mono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Bar Sberro</cp:lastModifiedBy>
  <cp:revision>3</cp:revision>
  <dcterms:modified xsi:type="dcterms:W3CDTF">2025-12-03T07:38:15Z</dcterms:modified>
</cp:coreProperties>
</file>